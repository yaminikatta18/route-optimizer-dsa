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59" r:id="rId8"/>
    <p:sldId id="267" r:id="rId9"/>
    <p:sldId id="266" r:id="rId10"/>
    <p:sldId id="260" r:id="rId11"/>
    <p:sldId id="262" r:id="rId12"/>
    <p:sldId id="269" r:id="rId18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  <Relationship Id="rId18" Type="http://schemas.openxmlformats.org/officeDocument/2006/relationships/slide" Target="slides/slide13.xml"/>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team13_geotag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938" y="1027775"/>
            <a:ext cx="9144000" cy="2316702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 smtClean="0">
                <a:solidFill>
                  <a:srgbClr val="C00000"/>
                </a:solidFill>
                <a:latin typeface="+mn-lt"/>
              </a:rPr>
              <a:t>Data Structures and Algorithms -3 (25CS2103E)</a:t>
            </a:r>
            <a:r>
              <a:rPr lang="en-US" sz="4000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Route Planning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70160" y="3513524"/>
            <a:ext cx="4551284" cy="1396014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Team Members</a:t>
            </a:r>
          </a:p>
          <a:p>
            <a:r>
              <a:rPr lang="en-US" dirty="0">
                <a:solidFill>
                  <a:srgbClr val="0070C0"/>
                </a:solidFill>
              </a:rPr>
              <a:t>K. Yaminisai (2520030380)</a:t>
            </a:r>
          </a:p>
          <a:p>
            <a:r>
              <a:rPr lang="en-US" dirty="0">
                <a:solidFill>
                  <a:srgbClr val="0070C0"/>
                </a:solidFill>
              </a:rPr>
              <a:t>L. Lekhana (2520030364)</a:t>
            </a: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endParaRPr lang="en-US" sz="18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Under the Esteemed Guidance of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Swathi mam, Assistant Professor, Dept. of CSE, KLH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806448"/>
            <a:ext cx="6936386" cy="5835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Abstract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Introduction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Literature survey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Problem Statement and Objectives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Hardware and Software requirements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Results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Conclusion </a:t>
            </a: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Future Scope 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101" name="Body Content"/>
          <p:cNvSpPr txBox="1"/>
          <p:nvPr/>
        </p:nvSpPr>
        <p:spPr>
          <a:xfrm>
            <a:off x="660400" y="950000"/>
            <a:ext cx="10871200" cy="5608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The Route Planning Application is a graph-based route optimization system designed to determine an efficient tour through multiple locations.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Locations are represented as vertices and roads are represented as weighted edges, where the edge weight denotes the distance or travel cost between two locations.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The system applies Dynamic Programming with Bitmask State Compression to solve a Travelling Salesperson Problem (TSP), finding a minimum-cost tour that visits every selected location once and returns to the starting location.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The application demonstrates practical use of graphs, dynamic programming, bitmask representation, state-space optimization, and route reconstruction.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101" name="Body Content"/>
          <p:cNvSpPr txBox="1"/>
          <p:nvPr/>
        </p:nvSpPr>
        <p:spPr>
          <a:xfrm>
            <a:off x="660400" y="950000"/>
            <a:ext cx="10871200" cy="5608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Finding an efficient route through multiple locations is an important optimization problem in transportation, delivery planning, and navigation systems.</a:t>
            </a:r>
          </a:p>
          <a:p>
            <a:pPr marL="0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The project models the route network as a weighted graph, where locations are represented as vertices and connections between locations are represented as weighted edges.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The application uses Bitmask Dynamic Programming to represent visited locations as states and systematically compute the minimum route cost.</a:t>
            </a:r>
          </a:p>
          <a:p>
            <a:pPr marL="0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C00000"/>
                </a:solidFill>
                <a:latin typeface="Calibri" panose="020F0502020204030204" pitchFamily="34" charset="0"/>
              </a:rPr>
              <a:t>The project's focus is threefold:</a:t>
            </a:r>
          </a:p>
          <a:p>
            <a:pPr marL="228600" indent="-228600">
              <a:lnSpc>
                <a:spcPct val="10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Efficient representation of route networks using graphs</a:t>
            </a:r>
          </a:p>
          <a:p>
            <a:pPr marL="228600" indent="-228600">
              <a:lnSpc>
                <a:spcPct val="10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Optimization of multi-location routes using Dynamic Programming</a:t>
            </a:r>
          </a:p>
          <a:p>
            <a:pPr marL="228600" indent="-22860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Reconstruction and visualization of the optimal route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sp>
        <p:nvSpPr>
          <p:cNvPr id="101" name="Body Content"/>
          <p:cNvSpPr txBox="1"/>
          <p:nvPr/>
        </p:nvSpPr>
        <p:spPr>
          <a:xfrm>
            <a:off x="660400" y="950000"/>
            <a:ext cx="10871200" cy="5608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228600" indent="-228600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C00000"/>
                </a:solidFill>
                <a:latin typeface="Calibri" panose="020F0502020204030204" pitchFamily="34" charset="0"/>
              </a:rPr>
              <a:t>Dynamic Programming — </a:t>
            </a: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</a:rPr>
              <a:t>A technique that solves optimization problems by dividing them into overlapping subproblems and storing previously computed results.</a:t>
            </a:r>
          </a:p>
          <a:p>
            <a:pPr marL="228600" indent="-228600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C00000"/>
                </a:solidFill>
                <a:latin typeface="Calibri" panose="020F0502020204030204" pitchFamily="34" charset="0"/>
              </a:rPr>
              <a:t>Travelling Salesperson Problem (TSP) — </a:t>
            </a: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</a:rPr>
              <a:t>An optimization problem that determines the minimum-cost tour that visits every selected location exactly once and returns to the starting location.</a:t>
            </a:r>
          </a:p>
          <a:p>
            <a:pPr marL="228600" indent="-228600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C00000"/>
                </a:solidFill>
                <a:latin typeface="Calibri" panose="020F0502020204030204" pitchFamily="34" charset="0"/>
              </a:rPr>
              <a:t>Bitmask Dynamic Programming — </a:t>
            </a: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</a:rPr>
              <a:t>Represents the set of visited locations using binary bits, reducing the need to explicitly store every possible subset.</a:t>
            </a:r>
          </a:p>
          <a:p>
            <a:pPr marL="228600" indent="-228600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C00000"/>
                </a:solidFill>
                <a:latin typeface="Calibri" panose="020F0502020204030204" pitchFamily="34" charset="0"/>
              </a:rPr>
              <a:t>Hamiltonian Path — </a:t>
            </a: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</a:rPr>
              <a:t>A path that visits every vertex exactly once and forms an important concept related to route and path optimization.</a:t>
            </a:r>
          </a:p>
          <a:p>
            <a:pPr marL="228600" indent="-228600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C00000"/>
                </a:solidFill>
                <a:latin typeface="Calibri" panose="020F0502020204030204" pitchFamily="34" charset="0"/>
              </a:rPr>
              <a:t>Route Optimization Applications — </a:t>
            </a: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</a:rPr>
              <a:t>Graph-based optimization techniques are widely applicable to delivery planning, transportation networks, and multi-location routing.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800" b="1" dirty="0">
                <a:solidFill>
                  <a:srgbClr val="C00000"/>
                </a:solidFill>
                <a:latin typeface="Calibri" panose="020F0502020204030204" pitchFamily="34" charset="0"/>
              </a:rPr>
              <a:t>Gap identified: Basic shortest-path methods focus on travelling between a source and destination, whereas this project focuses on optimizing a complete tour involving multiple locations.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and Objectives</a:t>
            </a:r>
          </a:p>
        </p:txBody>
      </p:sp>
      <p:sp>
        <p:nvSpPr>
          <p:cNvPr id="101" name="Problem Statement"/>
          <p:cNvSpPr txBox="1"/>
          <p:nvPr/>
        </p:nvSpPr>
        <p:spPr>
          <a:xfrm>
            <a:off x="660400" y="950000"/>
            <a:ext cx="5285600" cy="5608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C00000"/>
                </a:solidFill>
                <a:latin typeface="Calibri" panose="020F0502020204030204" pitchFamily="34" charset="0"/>
              </a:rPr>
              <a:t>Problem Statement</a:t>
            </a:r>
          </a:p>
          <a:p>
            <a:pPr marL="0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</a:rPr>
              <a:t>Finding an efficient route that visits multiple locations exactly once and returns to the starting location becomes computationally challenging as the number of locations increases.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</a:rPr>
              <a:t>A systematic optimization approach is required to represent the visited locations, evaluate possible route states, and determine the minimum-cost tour.</a:t>
            </a:r>
          </a:p>
        </p:txBody>
      </p:sp>
      <p:sp>
        <p:nvSpPr>
          <p:cNvPr id="102" name="Objectives"/>
          <p:cNvSpPr txBox="1"/>
          <p:nvPr/>
        </p:nvSpPr>
        <p:spPr>
          <a:xfrm>
            <a:off x="6246000" y="950000"/>
            <a:ext cx="5285600" cy="5608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C00000"/>
                </a:solidFill>
                <a:latin typeface="Calibri" panose="020F0502020204030204" pitchFamily="34" charset="0"/>
              </a:rPr>
              <a:t>Objectives</a:t>
            </a:r>
          </a:p>
          <a:p>
            <a:pPr marL="228600" indent="-228600">
              <a:lnSpc>
                <a:spcPct val="100000"/>
              </a:lnSpc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Represent locations and connections as a weighted graph.</a:t>
            </a:r>
          </a:p>
          <a:p>
            <a:pPr marL="228600" indent="-228600">
              <a:lnSpc>
                <a:spcPct val="100000"/>
              </a:lnSpc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Represent visited locations using a binary bitmask.</a:t>
            </a:r>
          </a:p>
          <a:p>
            <a:pPr marL="228600" indent="-228600">
              <a:lnSpc>
                <a:spcPct val="100000"/>
              </a:lnSpc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Apply Dynamic Programming to store and reuse optimal subproblem results.</a:t>
            </a:r>
          </a:p>
          <a:p>
            <a:pPr marL="228600" indent="-228600">
              <a:lnSpc>
                <a:spcPct val="100000"/>
              </a:lnSpc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Solve the multi-location route optimization problem using TSP.</a:t>
            </a:r>
          </a:p>
          <a:p>
            <a:pPr marL="228600" indent="-228600">
              <a:lnSpc>
                <a:spcPct val="100000"/>
              </a:lnSpc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Reconstruct and display the optimal route.</a:t>
            </a:r>
          </a:p>
          <a:p>
            <a:pPr marL="228600" indent="-228600">
              <a:lnSpc>
                <a:spcPct val="100000"/>
              </a:lnSpc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Analyze the number of DP states and algorithmic complexity.</a:t>
            </a:r>
          </a:p>
          <a:p>
            <a:pPr marL="228600" indent="-228600">
              <a:lnSpc>
                <a:spcPct val="100000"/>
              </a:lnSpc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Provide an interactive visualization of the optimized route.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Flow Chart</a:t>
            </a:r>
          </a:p>
        </p:txBody>
      </p:sp>
      <p:sp>
        <p:nvSpPr>
          <p:cNvPr id="101" name="Flow Steps"/>
          <p:cNvSpPr txBox="1"/>
          <p:nvPr/>
        </p:nvSpPr>
        <p:spPr>
          <a:xfrm>
            <a:off x="660400" y="950000"/>
            <a:ext cx="5285600" cy="5608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228600" indent="-228600">
              <a:lnSpc>
                <a:spcPct val="100000"/>
              </a:lnSpc>
              <a:spcAft>
                <a:spcPts val="120"/>
              </a:spcAft>
              <a:buFont typeface="Arial" panose="020B0604020202020204" pitchFamily="34" charset="0"/>
              <a:buChar char="▸"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Input Locations</a:t>
            </a:r>
          </a:p>
          <a:p>
            <a:pPr marL="228600" indent="-228600">
              <a:lnSpc>
                <a:spcPct val="100000"/>
              </a:lnSpc>
              <a:spcAft>
                <a:spcPts val="120"/>
              </a:spcAft>
              <a:buFont typeface="Arial" panose="020B0604020202020204" pitchFamily="34" charset="0"/>
              <a:buChar char="▸"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Select Starting Location</a:t>
            </a:r>
          </a:p>
          <a:p>
            <a:pPr marL="228600" indent="-228600">
              <a:lnSpc>
                <a:spcPct val="100000"/>
              </a:lnSpc>
              <a:spcAft>
                <a:spcPts val="120"/>
              </a:spcAft>
              <a:buFont typeface="Arial" panose="020B0604020202020204" pitchFamily="34" charset="0"/>
              <a:buChar char="▸"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Model Network as Weighted Graph</a:t>
            </a:r>
          </a:p>
          <a:p>
            <a:pPr marL="228600" indent="-228600">
              <a:lnSpc>
                <a:spcPct val="100000"/>
              </a:lnSpc>
              <a:spcAft>
                <a:spcPts val="120"/>
              </a:spcAft>
              <a:buFont typeface="Arial" panose="020B0604020202020204" pitchFamily="34" charset="0"/>
              <a:buChar char="▸"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Generate Bitmask States</a:t>
            </a:r>
          </a:p>
          <a:p>
            <a:pPr marL="228600" indent="-228600">
              <a:lnSpc>
                <a:spcPct val="100000"/>
              </a:lnSpc>
              <a:spcAft>
                <a:spcPts val="120"/>
              </a:spcAft>
              <a:buFont typeface="Arial" panose="020B0604020202020204" pitchFamily="34" charset="0"/>
              <a:buChar char="▸"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Initialize DP Table — dp[mask][current]</a:t>
            </a:r>
          </a:p>
          <a:p>
            <a:pPr marL="228600" indent="-228600">
              <a:lnSpc>
                <a:spcPct val="100000"/>
              </a:lnSpc>
              <a:spcAft>
                <a:spcPts val="120"/>
              </a:spcAft>
              <a:buFont typeface="Arial" panose="020B0604020202020204" pitchFamily="34" charset="0"/>
              <a:buChar char="▸"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Explore Unvisited Locations</a:t>
            </a:r>
          </a:p>
          <a:p>
            <a:pPr marL="228600" indent="-228600">
              <a:lnSpc>
                <a:spcPct val="100000"/>
              </a:lnSpc>
              <a:spcAft>
                <a:spcPts val="120"/>
              </a:spcAft>
              <a:buFont typeface="Arial" panose="020B0604020202020204" pitchFamily="34" charset="0"/>
              <a:buChar char="▸"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Update Minimum Route Cost</a:t>
            </a:r>
          </a:p>
          <a:p>
            <a:pPr marL="228600" indent="-228600">
              <a:lnSpc>
                <a:spcPct val="100000"/>
              </a:lnSpc>
              <a:spcAft>
                <a:spcPts val="120"/>
              </a:spcAft>
              <a:buFont typeface="Arial" panose="020B0604020202020204" pitchFamily="34" charset="0"/>
              <a:buChar char="▸"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Store Parent State</a:t>
            </a:r>
          </a:p>
          <a:p>
            <a:pPr marL="228600" indent="-228600">
              <a:lnSpc>
                <a:spcPct val="100000"/>
              </a:lnSpc>
              <a:spcAft>
                <a:spcPts val="120"/>
              </a:spcAft>
              <a:buFont typeface="Arial" panose="020B0604020202020204" pitchFamily="34" charset="0"/>
              <a:buChar char="▸"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All Locations Visited?</a:t>
            </a:r>
          </a:p>
          <a:p>
            <a:pPr marL="228600" indent="-228600">
              <a:lnSpc>
                <a:spcPct val="100000"/>
              </a:lnSpc>
              <a:spcAft>
                <a:spcPts val="120"/>
              </a:spcAft>
              <a:buFont typeface="Arial" panose="020B0604020202020204" pitchFamily="34" charset="0"/>
              <a:buChar char="▸"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Return to Starting Location</a:t>
            </a:r>
          </a:p>
          <a:p>
            <a:pPr marL="228600" indent="-228600">
              <a:lnSpc>
                <a:spcPct val="100000"/>
              </a:lnSpc>
              <a:spcAft>
                <a:spcPts val="120"/>
              </a:spcAft>
              <a:buFont typeface="Arial" panose="020B0604020202020204" pitchFamily="34" charset="0"/>
              <a:buChar char="▸"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Reconstruct Optimal Tour</a:t>
            </a:r>
          </a:p>
          <a:p>
            <a:pPr marL="228600" indent="-228600">
              <a:lnSpc>
                <a:spcPct val="100000"/>
              </a:lnSpc>
              <a:spcAft>
                <a:spcPts val="120"/>
              </a:spcAft>
              <a:buFont typeface="Arial" panose="020B0604020202020204" pitchFamily="34" charset="0"/>
              <a:buChar char="▸"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Display Route + Minimum Cost</a:t>
            </a:r>
          </a:p>
        </p:txBody>
      </p:sp>
      <p:sp>
        <p:nvSpPr>
          <p:cNvPr id="102" name="Flow Explanation"/>
          <p:cNvSpPr txBox="1"/>
          <p:nvPr/>
        </p:nvSpPr>
        <p:spPr>
          <a:xfrm>
            <a:off x="6246000" y="950000"/>
            <a:ext cx="5285600" cy="5608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C00000"/>
                </a:solidFill>
                <a:latin typeface="Calibri" panose="020F0502020204030204" pitchFamily="34" charset="0"/>
              </a:rPr>
              <a:t>How it works</a:t>
            </a:r>
          </a:p>
          <a:p>
            <a:pPr marL="0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</a:rPr>
              <a:t>At each state, the bitmask represents the locations already visited.</a:t>
            </a:r>
          </a:p>
          <a:p>
            <a:pPr marL="0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</a:rPr>
              <a:t>The Dynamic Programming table stores the minimum cost required to reach the current location for that particular visited set.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</a:rPr>
              <a:t>The process continues until all selected locations are visited, after which the minimum-cost tour is reconstructed.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01" name="Results Capabilities"/>
          <p:cNvSpPr txBox="1"/>
          <p:nvPr/>
        </p:nvSpPr>
        <p:spPr>
          <a:xfrm>
            <a:off x="660400" y="950000"/>
            <a:ext cx="5285600" cy="5608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Calibri" panose="020F0502020204030204" pitchFamily="34" charset="0"/>
              </a:rPr>
              <a:t>The application was tested using a weighted network containing multiple locations and connections. The system successfully:</a:t>
            </a:r>
          </a:p>
          <a:p>
            <a:pPr marL="228600" indent="-228600">
              <a:lnSpc>
                <a:spcPct val="100000"/>
              </a:lnSpc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Represents locations as graph vertices.</a:t>
            </a:r>
          </a:p>
          <a:p>
            <a:pPr marL="228600" indent="-228600">
              <a:lnSpc>
                <a:spcPct val="100000"/>
              </a:lnSpc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Represents route distances as weighted edges.</a:t>
            </a:r>
          </a:p>
          <a:p>
            <a:pPr marL="228600" indent="-228600">
              <a:lnSpc>
                <a:spcPct val="100000"/>
              </a:lnSpc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Generates binary masks for visited locations.</a:t>
            </a:r>
          </a:p>
          <a:p>
            <a:pPr marL="228600" indent="-228600">
              <a:lnSpc>
                <a:spcPct val="100000"/>
              </a:lnSpc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Computes DP states using Bitmask Dynamic Programming.</a:t>
            </a:r>
          </a:p>
          <a:p>
            <a:pPr marL="228600" indent="-228600">
              <a:lnSpc>
                <a:spcPct val="100000"/>
              </a:lnSpc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Determines the minimum-cost TSP tour.</a:t>
            </a:r>
          </a:p>
          <a:p>
            <a:pPr marL="228600" indent="-228600">
              <a:lnSpc>
                <a:spcPct val="100000"/>
              </a:lnSpc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Reconstructs the complete route.</a:t>
            </a:r>
          </a:p>
          <a:p>
            <a:pPr marL="228600" indent="-228600">
              <a:lnSpc>
                <a:spcPct val="100000"/>
              </a:lnSpc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Displays the optimal route visually on the graph.</a:t>
            </a:r>
          </a:p>
          <a:p>
            <a:pPr marL="228600" indent="-228600">
              <a:lnSpc>
                <a:spcPct val="100000"/>
              </a:lnSpc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Displays the final visited mask and DP state information.</a:t>
            </a:r>
          </a:p>
        </p:txBody>
      </p:sp>
      <p:sp>
        <p:nvSpPr>
          <p:cNvPr id="102" name="Example Result"/>
          <p:cNvSpPr txBox="1"/>
          <p:nvPr/>
        </p:nvSpPr>
        <p:spPr>
          <a:xfrm>
            <a:off x="6246000" y="950000"/>
            <a:ext cx="5285600" cy="5608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C00000"/>
                </a:solidFill>
                <a:latin typeface="Calibri" panose="020F0502020204030204" pitchFamily="34" charset="0"/>
              </a:rPr>
              <a:t>Example Result</a:t>
            </a:r>
          </a:p>
          <a:p>
            <a:pPr marL="0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Locations: Hyderabad → Secunderabad → Kukatpally → Madhapur → Gachibowli → LB Nagar</a:t>
            </a:r>
          </a:p>
          <a:p>
            <a:pPr marL="0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Output — Optimal Tour: Hyderabad → ... → Hyderabad</a:t>
            </a:r>
          </a:p>
          <a:p>
            <a:pPr marL="0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Minimum Route Cost: calculated by the DP optimization engine</a:t>
            </a:r>
          </a:p>
          <a:p>
            <a:pPr marL="0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State Representation: dp[mask][current]</a:t>
            </a:r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Time Complexity: O(n² × 2ⁿ)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Space Complexity: O(n × 2ⁿ)</a:t>
            </a: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01" name="Hardware Requirements"/>
          <p:cNvSpPr txBox="1"/>
          <p:nvPr/>
        </p:nvSpPr>
        <p:spPr>
          <a:xfrm>
            <a:off x="660400" y="950000"/>
            <a:ext cx="5285600" cy="5608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C00000"/>
                </a:solidFill>
                <a:latin typeface="Calibri" panose="020F0502020204030204" pitchFamily="34" charset="0"/>
              </a:rPr>
              <a:t>Hardware Requirements</a:t>
            </a:r>
          </a:p>
          <a:p>
            <a:pPr marL="228600" indent="-228600">
              <a:lnSpc>
                <a:spcPct val="10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</a:rPr>
              <a:t>Standard PC / Laptop</a:t>
            </a:r>
          </a:p>
          <a:p>
            <a:pPr marL="228600" indent="-228600">
              <a:lnSpc>
                <a:spcPct val="10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</a:rPr>
              <a:t>Dual-core processor or better</a:t>
            </a:r>
          </a:p>
          <a:p>
            <a:pPr marL="228600" indent="-228600">
              <a:lnSpc>
                <a:spcPct val="10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</a:rPr>
              <a:t>Minimum 4 GB RAM</a:t>
            </a:r>
          </a:p>
          <a:p>
            <a:pPr marL="228600" indent="-228600">
              <a:lnSpc>
                <a:spcPct val="10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</a:rPr>
              <a:t>Keyboard and mouse</a:t>
            </a:r>
          </a:p>
          <a:p>
            <a:pPr marL="228600" indent="-228600">
              <a:lnSpc>
                <a:spcPct val="10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</a:rPr>
              <a:t>Display monitor</a:t>
            </a:r>
          </a:p>
        </p:txBody>
      </p:sp>
      <p:sp>
        <p:nvSpPr>
          <p:cNvPr id="102" name="Software Requirements"/>
          <p:cNvSpPr txBox="1"/>
          <p:nvPr/>
        </p:nvSpPr>
        <p:spPr>
          <a:xfrm>
            <a:off x="6246000" y="950000"/>
            <a:ext cx="5285600" cy="5608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C00000"/>
                </a:solidFill>
                <a:latin typeface="Calibri" panose="020F0502020204030204" pitchFamily="34" charset="0"/>
              </a:rPr>
              <a:t>Software Requirements</a:t>
            </a:r>
          </a:p>
          <a:p>
            <a:pPr marL="228600" indent="-228600">
              <a:lnSpc>
                <a:spcPct val="100000"/>
              </a:lnSpc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Operating System: Windows / Linux / macOS</a:t>
            </a:r>
          </a:p>
          <a:p>
            <a:pPr marL="228600" indent="-228600">
              <a:lnSpc>
                <a:spcPct val="100000"/>
              </a:lnSpc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Programming Languages: HTML, CSS, JavaScript</a:t>
            </a:r>
          </a:p>
          <a:p>
            <a:pPr marL="228600" indent="-228600">
              <a:lnSpc>
                <a:spcPct val="100000"/>
              </a:lnSpc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IDE: VS Code</a:t>
            </a:r>
          </a:p>
          <a:p>
            <a:pPr marL="228600" indent="-228600">
              <a:lnSpc>
                <a:spcPct val="100000"/>
              </a:lnSpc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Browser: Google Chrome / Microsoft Edge</a:t>
            </a:r>
          </a:p>
          <a:p>
            <a:pPr marL="228600" indent="-228600">
              <a:lnSpc>
                <a:spcPct val="100000"/>
              </a:lnSpc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Front-end Technologies: HTML5, CSS3, JavaScript</a:t>
            </a:r>
          </a:p>
          <a:p>
            <a:pPr marL="228600" indent="-228600">
              <a:lnSpc>
                <a:spcPct val="100000"/>
              </a:lnSpc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Algorithm: Bitmask Dynamic Programming</a:t>
            </a:r>
          </a:p>
          <a:p>
            <a:pPr marL="228600" indent="-228600">
              <a:lnSpc>
                <a:spcPct val="100000"/>
              </a:lnSpc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Problem Model: Travelling Salesperson Problem (TSP)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101" name="Body Content"/>
          <p:cNvSpPr txBox="1"/>
          <p:nvPr/>
        </p:nvSpPr>
        <p:spPr>
          <a:xfrm>
            <a:off x="660400" y="950000"/>
            <a:ext cx="10871200" cy="5608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The Route Planning Application demonstrates how graph representation and Dynamic Programming can be used to solve a practical route optimization problem.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The project uses Bitmask Dynamic Programming to represent visited locations and efficiently compute optimal subproblems.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By applying the TSP model, the system determines a minimum-cost tour that visits every selected location and returns to the starting point.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The project demonstrates important DSA concepts including graphs, state compression, Dynamic Programming, route reconstruction, and algorithmic complexity analysis.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</a:p>
        </p:txBody>
      </p:sp>
      <p:sp>
        <p:nvSpPr>
          <p:cNvPr id="101" name="Body Content"/>
          <p:cNvSpPr txBox="1"/>
          <p:nvPr/>
        </p:nvSpPr>
        <p:spPr>
          <a:xfrm>
            <a:off x="660400" y="950000"/>
            <a:ext cx="10871200" cy="5608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228600" indent="-228600">
              <a:lnSpc>
                <a:spcPct val="100000"/>
              </a:lnSpc>
              <a:spcAft>
                <a:spcPts val="25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Support larger route networks with more locations.</a:t>
            </a:r>
          </a:p>
          <a:p>
            <a:pPr marL="228600" indent="-228600">
              <a:lnSpc>
                <a:spcPct val="100000"/>
              </a:lnSpc>
              <a:spcAft>
                <a:spcPts val="25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Provide multiple optimized route options.</a:t>
            </a:r>
          </a:p>
          <a:p>
            <a:pPr marL="228600" indent="-228600">
              <a:lnSpc>
                <a:spcPct val="100000"/>
              </a:lnSpc>
              <a:spcAft>
                <a:spcPts val="25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Include additional route constraints such as maximum distance or time.</a:t>
            </a:r>
          </a:p>
          <a:p>
            <a:pPr marL="228600" indent="-228600">
              <a:lnSpc>
                <a:spcPct val="100000"/>
              </a:lnSpc>
              <a:spcAft>
                <a:spcPts val="25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Extend the system for delivery and logistics route planning.</a:t>
            </a:r>
          </a:p>
          <a:p>
            <a:pPr marL="228600" indent="-228600">
              <a:lnSpc>
                <a:spcPct val="100000"/>
              </a:lnSpc>
              <a:spcAft>
                <a:spcPts val="25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Incorporate dynamic edge weights for changing travel conditions.</a:t>
            </a:r>
          </a:p>
          <a:p>
            <a:pPr marL="228600" indent="-228600">
              <a:lnSpc>
                <a:spcPct val="100000"/>
              </a:lnSpc>
              <a:spcAft>
                <a:spcPts val="25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Improve visualization of DP states and route transitions.</a:t>
            </a:r>
          </a:p>
          <a:p>
            <a:pPr marL="228600" indent="-228600">
              <a:lnSpc>
                <a:spcPct val="100000"/>
              </a:lnSpc>
              <a:spcAft>
                <a:spcPts val="25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Explore advanced optimization techniques for larger instances.</a:t>
            </a:r>
          </a:p>
          <a:p>
            <a:pPr marL="228600" indent="-228600">
              <a:lnSpc>
                <a:spcPct val="100000"/>
              </a:lnSpc>
              <a:spcAft>
                <a:spcPts val="25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Extend the prototype into a complete intelligent route planning system.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Thank you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Geo-Tagged Photo</a:t>
            </a:r>
          </a:p>
        </p:txBody>
      </p:sp>
      <p:pic>
        <p:nvPicPr>
          <p:cNvPr id="102" name="Geo-tagged photo" descr="Team 13 geo-tagged photo with GPS location and timesta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2667" y="1050000"/>
            <a:ext cx="7066666" cy="53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59</Words>
  <Application>Microsoft Office PowerPoint</Application>
  <PresentationFormat>Widescreen</PresentationFormat>
  <Paragraphs>25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Gautami</vt:lpstr>
      <vt:lpstr>Times New Roman</vt:lpstr>
      <vt:lpstr>Office Theme</vt:lpstr>
      <vt:lpstr>       Data Structures and Algorithms -3 (25CS2103E)  Title of the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ANITHA CHEKURI</cp:lastModifiedBy>
  <cp:revision>19</cp:revision>
  <dcterms:created xsi:type="dcterms:W3CDTF">2024-08-29T05:25:00Z</dcterms:created>
  <dcterms:modified xsi:type="dcterms:W3CDTF">2026-08-20T05:50:30Z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